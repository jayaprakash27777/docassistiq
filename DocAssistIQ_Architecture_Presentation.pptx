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Calibri"/>
              </a:defRPr>
            </a:pPr>
            <a:r>
              <a:t>DocAssistIQ</a:t>
            </a:r>
          </a:p>
          <a:p>
            <a:pPr>
              <a:spcBef>
                <a:spcPts val="800"/>
              </a:spcBef>
              <a:defRPr sz="2200" b="1">
                <a:solidFill>
                  <a:srgbClr val="38BDF8"/>
                </a:solidFill>
                <a:latin typeface="Calibri"/>
              </a:defRPr>
            </a:pPr>
            <a:r>
              <a:t>Autonomous-Grade Clinical Decision Support System &amp; Ambient Voice Intelligence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Comprehensive 4-Person Master Project Presentation &amp; Faculty Viva Defense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68880" cy="8229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Sub-30ms Real-Time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937760"/>
            <a:ext cx="2468880" cy="8229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Faster-Whisper &amp; Diarization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937760"/>
            <a:ext cx="2468880" cy="8229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1,500+ Open-Domain KB &amp; Outbreak Radar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937760"/>
            <a:ext cx="2468880" cy="82296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Next.js 16 &amp; SHA-256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PROBLEM STATEMENT &amp; CLINICAL CONTEXT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Clinical Crisis &amp; Project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  <a:latin typeface="Calibri"/>
              </a:defRPr>
            </a:pPr>
            <a:r>
              <a:t>Cognitive &amp; Documentation Overload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Physicians spend over 2 hours on EHR data entry for every 1 hour of patient care.</a:t>
            </a:r>
            <a:br/>
            <a:r>
              <a:t>• Over 80% of clinical data is trapped in unstructured shorthand notes (SOB, DOE, PMH, c/o).</a:t>
            </a:r>
            <a:br/>
            <a:r>
              <a:t>• Severe physician burnout leading to rushed consultations and missed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Diagnostic Errors &amp; Anchoring Bias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Over 800,000 Americans die or are permanently disabled annually from diagnostic error.</a:t>
            </a:r>
            <a:br/>
            <a:r>
              <a:t>• Clinicians under time pressure fall into cognitive anchoring bias—missing rare conditions, atypical presentations, and regional tropical outbreaks (Nipah, KFD, Dengue).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The Dangers of Raw LLMs in Healthcare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Generic chatbots (ChatGPT, Claude) hallucinate non-existent medical citations and dosages.</a:t>
            </a:r>
            <a:br/>
            <a:r>
              <a:t>• Stochastic variance violates medical determinism and reproducibility standards.</a:t>
            </a:r>
            <a:br/>
            <a:r>
              <a:t>• Cloud APIs transmit unencrypted Protected Health Information (PHI), violating HIPAA.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TEAM WORKLOAD &amp; MODULAR OWNERSHIP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Four-Person Architectural Responsibility Division (25%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  <a:latin typeface="Calibri"/>
              </a:defRPr>
            </a:pPr>
            <a:r>
              <a:t>PERSON 1</a:t>
            </a:r>
          </a:p>
          <a:p>
            <a:pPr>
              <a:spcBef>
                <a:spcPts val="400"/>
              </a:spcBef>
              <a:defRPr sz="1400" b="1">
                <a:solidFill>
                  <a:srgbClr val="0F2942"/>
                </a:solidFill>
                <a:latin typeface="Calibri"/>
              </a:defRPr>
            </a:pPr>
            <a:r>
              <a:t>Foundations &amp; Real-Time Intelligence</a:t>
            </a:r>
          </a:p>
          <a:p>
            <a:pPr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Sub-30ms Real-Time Prediction</a:t>
            </a:r>
            <a:br/>
            <a:r>
              <a:t>• Hybrid Neuro-Symbolic Engine</a:t>
            </a:r>
            <a:br/>
            <a:r>
              <a:t>• Emergency Red-Flag Triage (&lt;1ms)</a:t>
            </a:r>
            <a:br/>
            <a:r>
              <a:t>• Local LLM Orchestration &amp; Fallbacks</a:t>
            </a:r>
            <a:br/>
            <a:r>
              <a:t>• 10-Failure Circuit Breaker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PERSON 2</a:t>
            </a:r>
          </a:p>
          <a:p>
            <a:pPr>
              <a:spcBef>
                <a:spcPts val="400"/>
              </a:spcBef>
              <a:defRPr sz="1400" b="1">
                <a:solidFill>
                  <a:srgbClr val="0F2942"/>
                </a:solidFill>
                <a:latin typeface="Calibri"/>
              </a:defRPr>
            </a:pPr>
            <a:r>
              <a:t>Clinical NLP &amp; Voice Ingestion</a:t>
            </a:r>
          </a:p>
          <a:p>
            <a:pPr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Web Audio API (16kHz PCM Stream)</a:t>
            </a:r>
            <a:br/>
            <a:r>
              <a:t>• Faster-Whisper Large-v3 Local ASR</a:t>
            </a:r>
            <a:br/>
            <a:r>
              <a:t>• PyAnnote 3.1 Speaker Diarization</a:t>
            </a:r>
            <a:br/>
            <a:r>
              <a:t>• Shorthand Expansion (&lt;5ms)</a:t>
            </a:r>
            <a:br/>
            <a:r>
              <a:t>• Clause Negation &amp; SNOMED CT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PERSON 3</a:t>
            </a:r>
          </a:p>
          <a:p>
            <a:pPr>
              <a:spcBef>
                <a:spcPts val="400"/>
              </a:spcBef>
              <a:defRPr sz="1400" b="1">
                <a:solidFill>
                  <a:srgbClr val="0F2942"/>
                </a:solidFill>
                <a:latin typeface="Calibri"/>
              </a:defRPr>
            </a:pPr>
            <a:r>
              <a:t>Diagnostic Engine &amp; Safety Citadel</a:t>
            </a:r>
          </a:p>
          <a:p>
            <a:pPr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Deterministic Scoring Mathematics</a:t>
            </a:r>
            <a:br/>
            <a:r>
              <a:t>• 1,500+ Open-Domain Disease Catalog</a:t>
            </a:r>
            <a:br/>
            <a:r>
              <a:t>• India Outbreak Radar (28 States/8 UTs)</a:t>
            </a:r>
            <a:br/>
            <a:r>
              <a:t>• Discriminative Tiebreaker Tests</a:t>
            </a:r>
            <a:br/>
            <a:r>
              <a:t>• Polypharmacy FDA Boxed DDI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PERSON 4</a:t>
            </a:r>
          </a:p>
          <a:p>
            <a:pPr>
              <a:spcBef>
                <a:spcPts val="400"/>
              </a:spcBef>
              <a:defRPr sz="1400" b="1">
                <a:solidFill>
                  <a:srgbClr val="0F2942"/>
                </a:solidFill>
                <a:latin typeface="Calibri"/>
              </a:defRPr>
            </a:pPr>
            <a:r>
              <a:t>Frontend, Data, Security &amp; Evaluation</a:t>
            </a:r>
          </a:p>
          <a:p>
            <a:pPr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Next.js 16.3.4 (App Router) &amp; React 19</a:t>
            </a:r>
            <a:br/>
            <a:r>
              <a:t>• Dual-Channel REST &amp; Resilient WebSockets</a:t>
            </a:r>
            <a:br/>
            <a:r>
              <a:t>• PostgreSQL 16 + pgvector HNSW + Redis 7</a:t>
            </a:r>
            <a:br/>
            <a:r>
              <a:t>• SHA-256 Tamper-Evident Record Sealing</a:t>
            </a:r>
            <a:br/>
            <a:r>
              <a:t>• 80-Case Benchmark (100% Accuracy)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ENTERPRISE TECHNICAL BLUEPRINT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DocAssistIQ Modular Monolith Architecture (4K System Diagram)</a:t>
            </a:r>
          </a:p>
        </p:txBody>
      </p:sp>
      <p:pic>
        <p:nvPicPr>
          <p:cNvPr id="4" name="Picture 3" descr="DocAssistIQ_Architecture_PP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60348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PIPELINE WORKFLOW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End-to-End Clinical Decision &amp; Data Lifecycle (4-Stage Pipeline)</a:t>
            </a:r>
          </a:p>
        </p:txBody>
      </p:sp>
      <p:pic>
        <p:nvPicPr>
          <p:cNvPr id="4" name="Picture 3" descr="clinical_pipeline_diagram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903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FOUNDATIONS &amp; INTELLIGENCE CORE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1: Hybrid Reasoning — Decoupling Math from Narration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  <a:latin typeface="Calibri"/>
              </a:defRPr>
            </a:pPr>
            <a:r>
              <a:t>The Fallacy of End-to-End LLM Diagnosis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Stochastic Variance: The same clinical prompt produces varying differentials across turns.</a:t>
            </a:r>
            <a:br/>
            <a:br/>
            <a:r>
              <a:t>• Calibrated Cutoff Failure: Unconstrained LLMs cannot deterministically enforce lab thresholds (e.g., Troponin &gt; 0.04 ng/mL, Platelets &lt; 50,000/μL).</a:t>
            </a:r>
            <a:br/>
            <a:br/>
            <a:r>
              <a:t>• Legal Black-Box Liability: An LLM cannot mathematically prove which exact symptom triggered a diagnosis in a court of law.</a:t>
            </a:r>
            <a:br/>
            <a:br/>
            <a:r>
              <a:t>• Token Cost &amp; Latency: Cloud API calls require 3 to 15 seconds, making real-time interactive typing impossible.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The DocAssistIQ Two-Stage Solution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STAGE 1: Deterministic Python Engine (90% of Work)</a:t>
            </a:r>
            <a:br/>
            <a:r>
              <a:t>  - Evaluates candidate diseases via Bayesian priors and weighted Jaccard similarity in &lt; 30ms.</a:t>
            </a:r>
            <a:br/>
            <a:r>
              <a:t>  - Applies emergency red-flag triage rules in &lt; 1ms.</a:t>
            </a:r>
            <a:br/>
            <a:r>
              <a:t>  - Ranks the entire differential deterministically before any AI model is invoked.</a:t>
            </a:r>
            <a:br/>
            <a:br/>
            <a:r>
              <a:t>• STAGE 2: Local LLM Narrator (10% of Work)</a:t>
            </a:r>
            <a:br/>
            <a:r>
              <a:t>  - Receives Stage 1 pre-ranked candidates as immutable context.</a:t>
            </a:r>
            <a:br/>
            <a:r>
              <a:t>  - Constrained local model (ii-medical:8b at temp 0.1) synthesizes grounded clinical justifications.</a:t>
            </a:r>
            <a:br/>
            <a:r>
              <a:t>  - Forbidden from changing diagnostic rank order or hallucinating unlisted diseases.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REAL-TIME SYSTEM RUNTIME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1: Sub-30ms Real-Time Inference &amp; Emergency Red-Flag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Sub-30ms Real-Time Engine (realtime_prediction_service.py)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Zero-Network Execution: Operates entirely in server memory without disk I/O, database round-trips, or GPU inference in the critical path.</a:t>
            </a:r>
            <a:br/>
            <a:br/>
            <a:r>
              <a:t>• Pre-Compiled Regex Matching: Shorthands and symptoms are matched using compiled regular expression trees in under 5 milliseconds.</a:t>
            </a:r>
            <a:br/>
            <a:br/>
            <a:r>
              <a:t>• Hash Map Dictionary Lookups: Disease profiles are indexed by symptom hash sets, allowing instantaneous candidate retrieval.</a:t>
            </a:r>
            <a:br/>
            <a:br/>
            <a:r>
              <a:t>• Verified Benchmark Latency: Consistently executes in 18 to 28 milliseconds (average 22.5 ms), enabling true real-time feedback as the doctor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  <a:latin typeface="Calibri"/>
              </a:defRPr>
            </a:pPr>
            <a:r>
              <a:t>Emergency Red-Flag Registry (EMERGENCY_RULES &lt; 1ms)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Life-Threatening Presentations Scanned Deterministically:</a:t>
            </a:r>
            <a:br/>
            <a:r>
              <a:t>  - Acute Aortic Dissection: Tearing chest pain radiating to back + unequal blood pressures.</a:t>
            </a:r>
            <a:br/>
            <a:r>
              <a:t>  - STEMI (Myocardial Infarction): Crushing substernal pain radiating to left arm + diaphoresis.</a:t>
            </a:r>
            <a:br/>
            <a:r>
              <a:t>  - Bacterial Meningitis: Triad of high fever + severe neck stiffness + altered mental status.</a:t>
            </a:r>
            <a:br/>
            <a:r>
              <a:t>  - Tension Pneumothorax: Tracheal deviation + unilateral absent breath sounds + hypotension.</a:t>
            </a:r>
            <a:br/>
            <a:br/>
            <a:r>
              <a:t>• Instant Bedside Protocol Trigger:</a:t>
            </a:r>
            <a:br/>
            <a:r>
              <a:t>  Elevates critical alert banners immediately, prepending emergency bedside orders (e.g., Stat 12-lead ECG, Door-to-balloon PCI) before differential 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MODEL SERVING &amp; RELIABILITY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1: Local LLM Orchestration &amp; Hardware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Constrained Local Inference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Local Model: ii-medical:8b / llama3.2 hosted on local GPU via Ollama runtime (port 11434).</a:t>
            </a:r>
            <a:br/>
            <a:r>
              <a:t>• Strict Low Temperature (0.1): Minimizes stochastic sampling variance and guarantees reproducible clinical prose.</a:t>
            </a:r>
            <a:br/>
            <a:r>
              <a:t>• Zero Cloud Egress: All clinical prompts remain on the hospital premises, guaranteeing HIPAA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Structured JSON Enforcement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Strict Pydantic JSON Schemas: LLM outputs are forced into structured JSON with fields for summary, reasoning, and missing signs.</a:t>
            </a:r>
            <a:br/>
            <a:r>
              <a:t>• Schema Validation: If an LLM response fails validation, an automated repair parser corrects formatting errors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Hardware Circuit Breaker Pattern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10 Consecutive Failure Trip: If Ollama crashes or runs out of VRAM, the circuit breaker opens for 30 seconds.</a:t>
            </a:r>
            <a:br/>
            <a:r>
              <a:t>• Zero Downtime Fallback: Bypasses the LLM completely, synthesizing clinical narratives from static medical monographs.</a:t>
            </a:r>
            <a:br/>
            <a:r>
              <a:t>• Self-Healing: Periodically tests background health checks and closes the circuit automatically once Ollama recovers.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SPEECH INGESTION &amp; ACOUSTIC PROCESSING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2: Ambient Voice Consultation Ingestion &amp; Audio Diarization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Microphone Capture &amp; Faster-Whisper ASR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Web Audio API Capture: Browser captures raw microphone input at 16kHz PCM single-channel mono, chunked into 250ms binary buffers.</a:t>
            </a:r>
            <a:br/>
            <a:br/>
            <a:r>
              <a:t>• WebSocket Streaming: Chunks stream via ws.ts to FastAPI backend without intermediate disk writes.</a:t>
            </a:r>
            <a:br/>
            <a:br/>
            <a:r>
              <a:t>• Faster-Whisper Large-v3: Uses CTranslate2 quantization (int8/float16), executing 4x faster than standard PyTorch Whisper with 1/3 the memory footprint.</a:t>
            </a:r>
            <a:br/>
            <a:br/>
            <a:r>
              <a:t>• Clinical Domain Prompting: Custom initial prompts prime Whisper to accurately transcribe medical jargon (e.g., dyspnea, hepatosplenomegaly, ciprofloxacin).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PyAnnote 3.1 Dual-Speaker Diarization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Acoustic Voiceprint Separation: Segregates dialogue between Attending Doctor and Patient using neural speaker embeddings.</a:t>
            </a:r>
            <a:br/>
            <a:br/>
            <a:r>
              <a:t>• Elimination of Role Confusion: Prevents patient subjective complaints from being recorded as physician clinical findings, and vice versa.</a:t>
            </a:r>
            <a:br/>
            <a:br/>
            <a:r>
              <a:t>• Real-Time Turn-Taking Alignment: Aligns Whisper transcription timestamps with PyAnnote speaker intervals with &lt;150ms temporal jitter.</a:t>
            </a:r>
            <a:br/>
            <a:br/>
            <a:r>
              <a:t>• Energy-Based Voice Activity Detection (VAD): Suppresses background hospital noise, rustling paper, and trolley wheels.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CLINICAL TEXT PARSING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2: Clinical NLP — Shorthand Expansion &amp; Clause-Level Negation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Deterministic Shorthand Expansion (CLINICAL_SHORTHANDS)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Rapid Expansion Dictionary in clinical_note_parser.py (&lt;1ms):</a:t>
            </a:r>
            <a:br/>
            <a:r>
              <a:t>  - SOB  -&gt; 'shortness of breath'</a:t>
            </a:r>
            <a:br/>
            <a:r>
              <a:t>  - DOE  -&gt; 'dyspnea on exertion'</a:t>
            </a:r>
            <a:br/>
            <a:r>
              <a:t>  - PMH  -&gt; 'past medical history'</a:t>
            </a:r>
            <a:br/>
            <a:r>
              <a:t>  - c/o  -&gt; 'complaining of'</a:t>
            </a:r>
            <a:br/>
            <a:r>
              <a:t>  - k/c/o -&gt; 'known case of'</a:t>
            </a:r>
            <a:br/>
            <a:r>
              <a:t>  - N/V  -&gt; 'nausea and vomiting'</a:t>
            </a:r>
            <a:br/>
            <a:r>
              <a:t>  - HTN  -&gt; 'hypertension'</a:t>
            </a:r>
            <a:br/>
            <a:r>
              <a:t>  - T2DM -&gt; 'type 2 diabetes mellitus'</a:t>
            </a:r>
            <a:br/>
            <a:br/>
            <a:r>
              <a:t>• Eliminates NLP Ambiguity: Standardizes messy physician typing into canonical terms prior to entity linking.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Clause-Level Negation Resolution (NEGATION_PATTERNS)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The Clinical Negation Challenge:</a:t>
            </a:r>
            <a:br/>
            <a:r>
              <a:t>  Raw keyword search misinterprets: 'Patient has productive cough; denies chest pain or shortness of breath' as positive for chest pain.</a:t>
            </a:r>
            <a:br/>
            <a:br/>
            <a:r>
              <a:t>• DocAssistIQ Scope Resolution Algorithm:</a:t>
            </a:r>
            <a:br/>
            <a:r>
              <a:t>  1. Sentence &amp; Clause Boundary Splitting (periods, semicolons, conjunctions like 'but', 'however', 'denies').</a:t>
            </a:r>
            <a:br/>
            <a:r>
              <a:t>  2. Scopes negation triggers ('no', 'denies', 'negative for', 'ruled out', 'absence of') across 1 to 5 subsequent tokens.</a:t>
            </a:r>
            <a:br/>
            <a:r>
              <a:t>  3. Correctly categorizes findings into POSITIVE vs. NEGATED sets.</a:t>
            </a:r>
            <a:br/>
            <a:r>
              <a:t>  4. Negative findings actively apply mathematical penalties to competing candidate diseases.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STANDARDIZATION &amp; CLINICAL GOVERNANCE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2: Terminology Normalization &amp; The Patient Consent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Concept Normalization (concept_normalizer.py)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International Ontology Cross-Walking:</a:t>
            </a:r>
            <a:br/>
            <a:r>
              <a:t>  Maps unstructured phrases to standardized medical vocabularies:</a:t>
            </a:r>
            <a:br/>
            <a:r>
              <a:t>  - SNOMED CT: Clinical findings, symptoms, anatomical sites.</a:t>
            </a:r>
            <a:br/>
            <a:r>
              <a:t>  - RxNorm: Active ingredients, pharmaceutical forms, strengths.</a:t>
            </a:r>
            <a:br/>
            <a:r>
              <a:t>  - ICD-10-CM / ICD-11: Standard international billing and mortality codes.</a:t>
            </a:r>
            <a:br/>
            <a:br/>
            <a:r>
              <a:t>• Hybrid Normalization Pipeline:</a:t>
            </a:r>
            <a:br/>
            <a:r>
              <a:t>  1. Exact string match against curated concept dictionary.</a:t>
            </a:r>
            <a:br/>
            <a:r>
              <a:t>  2. Jaro-Winkler &amp; Levenshtein phonetic/distance matching for spelling typos.</a:t>
            </a:r>
            <a:br/>
            <a:r>
              <a:t>  3. Semantic embedding nearest-neighbor lookup for complex clinical synonyms.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  <a:latin typeface="Calibri"/>
              </a:defRPr>
            </a:pPr>
            <a:r>
              <a:t>Mandatory Patient Consent Gate (consent.py)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Ethical &amp; Legal Non-Negotiable Gate:</a:t>
            </a:r>
            <a:br/>
            <a:r>
              <a:t>  Consultation audio capture and clinical parsing are strictly blocked at the API middleware level until explicit patient consent is recorded.</a:t>
            </a:r>
            <a:br/>
            <a:br/>
            <a:r>
              <a:t>• Audit Trail Recording (ConsentRecord Table):</a:t>
            </a:r>
            <a:br/>
            <a:r>
              <a:t>  - Stores consent type (Explicit Verbal, Written, Emergency Override).</a:t>
            </a:r>
            <a:br/>
            <a:r>
              <a:t>  - Captures clinician ID, patient session token, and ISO-8601 UTC timestamp.</a:t>
            </a:r>
            <a:br/>
            <a:r>
              <a:t>  - Cryptographically chained into the final consultation audit ledger.</a:t>
            </a:r>
            <a:br/>
            <a:br/>
            <a:r>
              <a:t>• Emergency Exception Handling:</a:t>
            </a:r>
            <a:br/>
            <a:r>
              <a:t>  In life-threatening trauma/unconscious patients, attending clinicians can toggle Emergency Override with mandatory justification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MATHEMATICAL DIAGNOSTIC INTELLIGENCE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3: Deterministic Diagnostic Scoring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The Multi-Factor Candidate Ranking Formulation (clinical_reasoning_engine.py)</a:t>
            </a:r>
          </a:p>
          <a:p>
            <a:pPr>
              <a:spcBef>
                <a:spcPts val="800"/>
              </a:spcBef>
              <a:defRPr sz="1500" b="1">
                <a:solidFill>
                  <a:srgbClr val="0F2942"/>
                </a:solidFill>
                <a:latin typeface="Consolas"/>
              </a:defRPr>
            </a:pPr>
            <a:r>
              <a:t>Score(d) = w_1·Prior(d) + w_2·Jaccard_weighted(S_patient, S_d) + w_3·RedFlag(d) - w_4·Penalty(d)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1. Bayesian Disease Prior [w_1 · Prior(d)]:</a:t>
            </a:r>
            <a:br/>
            <a:r>
              <a:t>   Base epidemiological incidence dynamically adjusted by patient age, sex, and geographic location.</a:t>
            </a:r>
            <a:br/>
            <a:br/>
            <a:r>
              <a:t>2. Weighted Jaccard Overlap [w_2 · Jaccard_weighted]:</a:t>
            </a:r>
            <a:br/>
            <a:r>
              <a:t>   Calculates ratio of symptom intersections. Pathognomonic hallmark signs (e.g., Kayser-Fleischer rings in Wilson's, Janeway lesions in Endocarditis) carry 3x to 5x weights over non-specific symptoms (fever, fatigue).</a:t>
            </a:r>
            <a:br/>
            <a:br/>
            <a:r>
              <a:t>3. Red-Flag &amp; Cluster Multiplier [w_3 · RedFlag(d)]:</a:t>
            </a:r>
            <a:br/>
            <a:r>
              <a:t>   Elevates acute life-threatening surgical emergencies and multi-system triads (fever + jaundice + acute hemorrhage).</a:t>
            </a:r>
            <a:br/>
            <a:br/>
            <a:r>
              <a:t>4. Contraindication &amp; Negation Demotion [- w_4 · Penalty(d)]:</a:t>
            </a:r>
            <a:br/>
            <a:r>
              <a:t>   Subtracts mathematical penalty if the patient explicitly denies a hallmark sign (e.g., patient denies cough demotes Pneumonia).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KNOWLEDGE GENERALIZATION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3: Open-Domain Medical Engine (1,500+ Conditions &amp; Rare Diseases)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Overcoming Closed-World AI Limitations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The Closed-World Problem: Typical medical models know only 50 to 100 textbook conditions, failing completely when faced with complex or rare diseases.</a:t>
            </a:r>
            <a:br/>
            <a:br/>
            <a:r>
              <a:t>• 1,500+ Indexed Clinical Entities: Extensively covers metabolic, genetic, neurodegenerative, and autoimmune conditions.</a:t>
            </a:r>
            <a:br/>
            <a:br/>
            <a:r>
              <a:t>• Built-In Rare Disease Coverage:</a:t>
            </a:r>
            <a:br/>
            <a:r>
              <a:t>  - Wilson's Disease: ATP7B mutation, copper toxic accumulation, Kayser-Fleischer rings, low ceruloplasmin.</a:t>
            </a:r>
            <a:br/>
            <a:r>
              <a:t>  - Friedreich's Ataxia: FXN GAA trinucleotide repeat, sensory neuropathy, hypertrophic cardiomyopathy.</a:t>
            </a:r>
            <a:br/>
            <a:r>
              <a:t>  - Ataxia-Telangiectasia: ATM mutation, progressive cerebellar ataxia, oculocutaneous telangiectasia, immunodeficiency.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Tri-Source Live Fallback Resolution Pipeline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Dynamic External Discovery for Out-of-Catalog Queries:</a:t>
            </a:r>
            <a:br/>
            <a:r>
              <a:t>  1. Local Knowledge Graph (Master catalog of 1,500+ conditions).</a:t>
            </a:r>
            <a:br/>
            <a:r>
              <a:t>  2. NIH NLM ClinicalTables API: Live lookup over 100,000+ conditions and ICD-10-CM codes with 2.0s timeout.</a:t>
            </a:r>
            <a:br/>
            <a:r>
              <a:t>  3. OpenFDA Drug &amp; Indications API: Live resolution of drug indications, boxed warnings, and adverse profiles.</a:t>
            </a:r>
            <a:br/>
            <a:br/>
            <a:r>
              <a:t>• In-Memory Thread-Safe Cache (_LIVE_RESOLVED_CACHE):</a:t>
            </a:r>
            <a:br/>
            <a:r>
              <a:t>  Successfully resolved external conditions are cached in memory with LRU eviction, reducing subsequent query latency to &lt; 1 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EPIDEMIOLOGICAL INTELLIGENCE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3: India Outbreak Surveillance Radar (28 States &amp; 8 UTs)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Regional Disease Vectors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Kerala: Nipah Virus (Pteropus fruit bat vector), Leptospirosis (Weil's disease post-monsoon), KFD in border districts.</a:t>
            </a:r>
            <a:br/>
            <a:br/>
            <a:r>
              <a:t>• Karnataka: Kyasanur Forest Disease (KFD / Flavivirus tick vector in Western Ghats), Dengue, Chikungunya.</a:t>
            </a:r>
            <a:br/>
            <a:br/>
            <a:r>
              <a:t>• Gujarat: Chandipura Vesiculovirus (rapid pediatric encephalitis via sandflies), Crimean-Congo Hemorrhagic Fever.</a:t>
            </a:r>
            <a:br/>
            <a:br/>
            <a:r>
              <a:t>• Maharashtra: Urban Leptospirosis during monsoon waterlogging, H1N1 Influenza.</a:t>
            </a:r>
            <a:br/>
            <a:br/>
            <a:r>
              <a:t>• Himachal / Uttarakhand: Scrub Typhus (Orientia tsutsugamushi via chigger mites).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Bayesian Prior Boosting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Geo-Location Multiplier:</a:t>
            </a:r>
            <a:br/>
            <a:r>
              <a:t>  Prior_adjusted(d) = Prior_base(d) * Outbreak_multiplier(state, season)</a:t>
            </a:r>
            <a:br/>
            <a:br/>
            <a:r>
              <a:t>• NCDC &amp; IDSP Modeling:</a:t>
            </a:r>
            <a:br/>
            <a:r>
              <a:t>  Incorporates weekly syndromic surveillance bulletins from the National Centre for Disease Control (NCDC) and Integrated Disease Surveillance Programme (IDSP).</a:t>
            </a:r>
            <a:br/>
            <a:br/>
            <a:r>
              <a:t>• Prevents Tropical Misses:</a:t>
            </a:r>
            <a:br/>
            <a:r>
              <a:t>  Elevates regional hemorrhagic fevers and encephalitides that Western medical algorithms routinely miss.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Discriminative Travel Questions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Automated Bedside Prompts:</a:t>
            </a:r>
            <a:br/>
            <a:r>
              <a:t>  When a fever with thrombocytopenia is logged in Karnataka, the engine automatically prompts:</a:t>
            </a:r>
            <a:br/>
            <a:r>
              <a:t>  - 'Recent travel or trekking in Western Ghats forest areas?'</a:t>
            </a:r>
            <a:br/>
            <a:r>
              <a:t>  - 'History of tick bites or monkey deaths nearby?'</a:t>
            </a:r>
            <a:br/>
            <a:br/>
            <a:r>
              <a:t>• Early Quarantine Protocols:</a:t>
            </a:r>
            <a:br/>
            <a:r>
              <a:t>  Alerts the hospital infection control officer immediately if Nipah or CCHF is suspected.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DIAGNOSTIC PRECISION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3: Discriminative Testing Engine &amp; Validated Clinical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Lookalike Pair Discriminative Tiebreaker Engine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Automatically Breaks Diagnostic Ties:</a:t>
            </a:r>
            <a:br/>
            <a:r>
              <a:t>  - Chikungunya vs. Dengue:</a:t>
            </a:r>
            <a:br/>
            <a:r>
              <a:t>    Discriminative Test: Anti-CHIKV IgM ELISA vs. Dengue NS1 / Tourniquet Test.</a:t>
            </a:r>
            <a:br/>
            <a:r>
              <a:t>    Clinical Tiebreaker: Persistent symmetrical polyarthritis vs. severe plasma leakage / thrombocytopenia.</a:t>
            </a:r>
            <a:br/>
            <a:br/>
            <a:r>
              <a:t>  - Bacterial Meningitis vs. Subarachnoid Hemorrhage:</a:t>
            </a:r>
            <a:br/>
            <a:r>
              <a:t>    Discriminative Test: Non-Contrast Head CT + Lumbar Puncture opening pressure/xanthochromia.</a:t>
            </a:r>
            <a:br/>
            <a:r>
              <a:t>    Clinical Tiebreaker: High fever/neutrophils vs. sudden thunderclap headache without initial fever.</a:t>
            </a:r>
            <a:br/>
            <a:br/>
            <a:r>
              <a:t>  - Acute Intermittent Porphyria vs. Appendicitis:</a:t>
            </a:r>
            <a:br/>
            <a:r>
              <a:t>    Discriminative Test: Urinary Porphobilinogen (PBG) vs. Abdominal Sonography/CT.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Deterministic Clinical Criteria Evaluators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ACR/EULAR 2019 Criteria for SLE (Lupus):</a:t>
            </a:r>
            <a:br/>
            <a:r>
              <a:t>  - Mandatory Entry Criterion: ANA titer &gt;= 1:80.</a:t>
            </a:r>
            <a:br/>
            <a:r>
              <a:t>  - Additive Domains: Constitutional, Hematologic, Mucocutaneous, Serosal, Renal, Musculoskeletal.</a:t>
            </a:r>
            <a:br/>
            <a:r>
              <a:t>  - Score &gt;= 10 points classifies Systemic Lupus Erythematosus.</a:t>
            </a:r>
            <a:br/>
            <a:br/>
            <a:r>
              <a:t>• Modified Duke Criteria for Infective Endocarditis:</a:t>
            </a:r>
            <a:br/>
            <a:r>
              <a:t>  - 2 Major Criteria (persistent typical bacteremia, positive echo vegetation/abscess).</a:t>
            </a:r>
            <a:br/>
            <a:r>
              <a:t>  - 5 Minor Criteria (predisposition, fever, vascular/Janeway, immunologic/Osler).</a:t>
            </a:r>
            <a:br/>
            <a:br/>
            <a:r>
              <a:t>• Wells' Criteria for Pulmonary Embolism:</a:t>
            </a:r>
            <a:br/>
            <a:r>
              <a:t>  - Score &gt; 4.0: PE Likely -&gt; Stat CT Pulmonary Angiography.</a:t>
            </a:r>
            <a:br/>
            <a:r>
              <a:t>  - Score &lt;= 4.0: PE Unlikely -&gt; High-sensitivity D-Dimer rule-out.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CLINICAL SAFETY SAFEGUARDS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3: Polypharmacy Safety Citadel &amp; Regulatory Watermark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  <a:latin typeface="Calibri"/>
              </a:defRPr>
            </a:pPr>
            <a:r>
              <a:t>Deterministic Lethal Drug-Drug Interaction Matrix</a:t>
            </a:r>
          </a:p>
          <a:p>
            <a:pPr>
              <a:spcBef>
                <a:spcPts val="1200"/>
              </a:spcBef>
              <a:defRPr sz="1150">
                <a:solidFill>
                  <a:srgbClr val="334155"/>
                </a:solidFill>
                <a:latin typeface="Calibri"/>
              </a:defRPr>
            </a:pPr>
            <a:r>
              <a:t>• Hardcoded FDA Boxed Warning Enforcement:</a:t>
            </a:r>
            <a:br/>
            <a:r>
              <a:t>  - Warfarin + Aspirin/NSAIDs:</a:t>
            </a:r>
            <a:br/>
            <a:r>
              <a:t>    Severity: CRITICAL -&gt; Severe GI &amp; intracranial hemorrhage risk via combined antiplatelet/anticoagulant synergy.</a:t>
            </a:r>
            <a:br/>
            <a:br/>
            <a:r>
              <a:t>  - Sildenafil + Nitroglycerin:</a:t>
            </a:r>
            <a:br/>
            <a:r>
              <a:t>    Severity: LETHAL -&gt; Synergistic cGMP accumulation causing profound, refractory systemic hypotension and cardiac arrest.</a:t>
            </a:r>
            <a:br/>
            <a:br/>
            <a:r>
              <a:t>  - Lisinopril + Spironolactone:</a:t>
            </a:r>
            <a:br/>
            <a:r>
              <a:t>    Severity: HIGH -&gt; Dual potassium-sparing suppression causing fatal hyperkalemia and ventricular arrhythmias.</a:t>
            </a:r>
            <a:br/>
            <a:br/>
            <a:r>
              <a:t>• Zero AI Bypass: Safety rules execute in hard Python code; no LLM can override or dismiss a critical drug contraindication.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The Mandatory Legal Watermark &amp; Compliance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Regulatory Governance &amp; Medico-Legal Safeguard:</a:t>
            </a:r>
            <a:br/>
            <a:r>
              <a:t>  Every single screen, JSON payload, and exported document is permanently stamped with:</a:t>
            </a:r>
            <a:br/>
            <a:br/>
            <a:r>
              <a:t>  'REFERENCE INFORMATION — CLINICIAN REVIEW REQUIRED'</a:t>
            </a:r>
            <a:br/>
            <a:br/>
            <a:r>
              <a:t>• Compliance Standards Met:</a:t>
            </a:r>
            <a:br/>
            <a:r>
              <a:t>  - US FDA CDSS Guidance (Clinical Decision Support Software exemption criteria).</a:t>
            </a:r>
            <a:br/>
            <a:r>
              <a:t>  - EU Medical Device Regulation (EU MDR 2017/745 Class IIa SaMD rules).</a:t>
            </a:r>
            <a:br/>
            <a:r>
              <a:t>  - Asserts that DocAssistIQ is an assistive decision-support tool, preserving ultimate clinical authority and liability with the licensed human practitioner.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FULL-STACK USER EXPERIENCE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4: Next.js 16 &amp; React 19 Modern Frontend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App Router &amp; Server Components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Next.js 16.3.4 App Router: Nested layouts, server-side data fetching, and zero client JS bundle overhead for static tables.</a:t>
            </a:r>
            <a:br/>
            <a:br/>
            <a:r>
              <a:t>• React 19.2.8 RSC Boundary: Clear separation between asynchronous Server Components and dynamic Client Components ('use client').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Design System &amp; UI Library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TailwindCSS v4: Modern utility-first CSS design with theme variables, achieving sub-100ms UI render times.</a:t>
            </a:r>
            <a:br/>
            <a:br/>
            <a:r>
              <a:t>• Radix UI Primitives: Unstyled, accessible dialogs, tabs, and tooltips complying with W3C WAI-ARIA standards.</a:t>
            </a:r>
            <a:br/>
            <a:br/>
            <a:r>
              <a:t>• Framer Motion: Hardware-accelerated smooth waveforms and alert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State &amp; Optimistic Updates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TanStack Query v5: Manages server-side cache invalidation, deduplication, and background polling.</a:t>
            </a:r>
            <a:br/>
            <a:br/>
            <a:r>
              <a:t>• Optimistic Mutations: Medication and symptom edits reflect in the UI immediately before server ACK, rolling back gracefully if an error occurs.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FULL-STACK REAL-TIME PIPELINE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4: Full-Stack Integration — Typed REST &amp; Resilient WebSockets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Strongly-Typed REST API Client (lib/api.ts - 85KB)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Enterprise TypeScript API Layer:</a:t>
            </a:r>
            <a:br/>
            <a:r>
              <a:t>  - 85 KB comprehensive client mapping over 50 backend FastAPI endpoints.</a:t>
            </a:r>
            <a:br/>
            <a:r>
              <a:t>  - Strict TypeScript interface typings mirroring backend Pydantic models.</a:t>
            </a:r>
            <a:br/>
            <a:r>
              <a:t>  - Centralized error interception, JWT bearer token refresh, and request correlation IDs.</a:t>
            </a:r>
            <a:br/>
            <a:br/>
            <a:r>
              <a:t>• Covers All Major Workflows:</a:t>
            </a:r>
            <a:br/>
            <a:r>
              <a:t>  Authentication, Patient Profile lookup, Consultation state transitions, Differential queries, Document downloads, and Outbreak radar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Resilient Full-Duplex WebSockets (lib/ws.ts)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Bidirectional Low-Latency Tunnel:</a:t>
            </a:r>
            <a:br/>
            <a:r>
              <a:t>  Streams binary PCM audio chunks upstream and diarized transcript tokens + live differential predictions downstream.</a:t>
            </a:r>
            <a:br/>
            <a:br/>
            <a:r>
              <a:t>• Jittered Exponential Backoff Reconnection:</a:t>
            </a:r>
            <a:br/>
            <a:r>
              <a:t>  If the hospital Wi-Fi drops, ws.ts automatically retries up to 10 times with randomized delay, preventing thundering herd server spikes.</a:t>
            </a:r>
            <a:br/>
            <a:br/>
            <a:r>
              <a:t>• In-Memory Offline Message Buffer:</a:t>
            </a:r>
            <a:br/>
            <a:r>
              <a:t>  Clinician inputs made during network dropouts are queued in memory and replayed automatically upon reconnection.</a:t>
            </a:r>
            <a:br/>
            <a:br/>
            <a:r>
              <a:t>• 30-Second Ping/Pong Heartbeats:</a:t>
            </a:r>
            <a:br/>
            <a:r>
              <a:t>  Actively detects and tears down silent half-open TCP connections.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DATA PERSISTENCE &amp; VECTOR SEARCH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4: Enterprise Data Infrastructure — PostgreSQL, pgvector &amp; Redis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Relational Core: PostgreSQL 16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SQLAlchemy 2.0 Async Engine: Fully non-blocking database queries with asyncpg driver.</a:t>
            </a:r>
            <a:br/>
            <a:br/>
            <a:r>
              <a:t>• Connection Pooling: pool_size=20 with max_overflow=10 for high-concurrency throughput.</a:t>
            </a:r>
            <a:br/>
            <a:br/>
            <a:r>
              <a:t>• Normalized Relational Schema: Enforces ACID guarantees across Users, Doctors, PatientProfiles, Consultations, ClinicalNotes, Findings, and Audits.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Semantic Vector Search: pgvector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In-Database Vector Store: Native vector extension eliminating external Pinecone/Milvus overhead.</a:t>
            </a:r>
            <a:br/>
            <a:br/>
            <a:r>
              <a:t>• HNSW Indexing: Hierarchical Navigable Small World index using cosine distance (&lt;=&gt;) for 768/1536-dim embeddings.</a:t>
            </a:r>
            <a:br/>
            <a:br/>
            <a:r>
              <a:t>• Sub-15ms PMC Evidence RAG: Sub-linear nearest-neighbor search over thousands of medical research articles.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  <a:latin typeface="Calibri"/>
              </a:defRPr>
            </a:pPr>
            <a:r>
              <a:t>In-Memory Engine: Redis 7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Sub-Millisecond Cache: Stores live resolved NLM ClinicalTables and OpenFDA entities.</a:t>
            </a:r>
            <a:br/>
            <a:br/>
            <a:r>
              <a:t>• Token-Bucket Rate Limiting: Restricts public verification endpoints to 60 req/min, preventing brute force.</a:t>
            </a:r>
            <a:br/>
            <a:br/>
            <a:r>
              <a:t>• Pub/Sub Message Broker: Asynchronously dispatches consultation events to background workers.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SECURITY &amp; LEGAL VERIFICATION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Person 4: Cryptographic Provenance &amp; Public Tamper-Evident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SHA-256 Canonical Hashing &amp; Document Generation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Canonical JSON Normalization:</a:t>
            </a:r>
            <a:br/>
            <a:r>
              <a:t>  Keys are sorted alphabetically with compact delimiters before hashing, ensuring identical hashes regardless of formatting differences.</a:t>
            </a:r>
            <a:br/>
            <a:br/>
            <a:r>
              <a:t>• Immutable SHA-256 Digital Signature:</a:t>
            </a:r>
            <a:br/>
            <a:r>
              <a:t>  hashlib.sha256(canonical_bytes).hexdigest() computes a 64-character tamper-evident digest permanently stored in the database.</a:t>
            </a:r>
            <a:br/>
            <a:br/>
            <a:r>
              <a:t>• Certified PDF &amp; DOCX Generation:</a:t>
            </a:r>
            <a:br/>
            <a:r>
              <a:t>  - Hospital-grade PDFs generated via FPDF2 with clinician registration badges and QR codes.</a:t>
            </a:r>
            <a:br/>
            <a:r>
              <a:t>  - Formatted Microsoft Word DOCX exported via python-docx.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Public Verification Portal (/verify/[code] &amp; /verify/hash)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• Instant Multi-Party Authenticity Check:</a:t>
            </a:r>
            <a:br/>
            <a:r>
              <a:t>  Pharmacists, insurers, or receiving hospitals visit the public portal at /verify/[code] or upload document hashes to verify origin.</a:t>
            </a:r>
            <a:br/>
            <a:br/>
            <a:r>
              <a:t>• Zero-Trust Cryptographic Guarantee:</a:t>
            </a:r>
            <a:br/>
            <a:r>
              <a:t>  If an attacker alters even a single dosage or date in the note, the re-computed SHA-256 hash mismatches, flagging 'DOCUMENT COMPROMISED' immediately.</a:t>
            </a:r>
            <a:br/>
            <a:br/>
            <a:r>
              <a:t>• Verified Clinical Ledger (verified_documents.json):</a:t>
            </a:r>
            <a:br/>
            <a:r>
              <a:t>  Backs the public registry with high-security verified document fingerprints.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SCIENTIFIC VALIDATION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Person 4: Empirical Benchmark Evaluation (80/80 Passed — 100% Accuracy)</a:t>
            </a:r>
          </a:p>
        </p:txBody>
      </p:sp>
      <p:pic>
        <p:nvPicPr>
          <p:cNvPr id="4" name="Picture 3" descr="benchmark_chart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9484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COMPETITIVE &amp; ARCHITECTURAL ADVANTAGE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System Comparison: DocAssistIQ vs. Traditional EHR vs. Generic AI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EHR Systems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Cloud LLMs (ChatGPT)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DocAssistIQ (Our Solution)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Diagnostic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N/A (Passive storage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3,000ms - 15,000ms (High latency)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&lt; 30ms (Deterministic in-memory)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Medical Hallucination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(Manual doctor entry)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(Probabilistic fabrication)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Zero (Stage 1 deterministic math)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Ambient Voice &amp; Diarization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or basic dictation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Speech only (No speaker separation)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Dual-Speaker PyAnnote 3.1 Diarization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Negation Resolution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(Fails on denied terms)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Inconsistent across turns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Deterministic clause-level scope parser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Regional Outbreak Surveillance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(Siloed databases)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Static training cutoff (Blind to 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India 28-State / 8-UT NCDC/IDSP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Tamper-Evident Provenance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Basic database update timestamp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SHA-256 Cryptographic Record Sealing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VIVA PREPARATION</a:t>
            </a:r>
          </a:p>
          <a:p>
            <a:pPr>
              <a:spcBef>
                <a:spcPts val="300"/>
              </a:spcBef>
              <a:defRPr sz="2400" b="1">
                <a:solidFill>
                  <a:srgbClr val="0F2942"/>
                </a:solidFill>
                <a:latin typeface="Calibri"/>
              </a:defRPr>
            </a:pPr>
            <a:r>
              <a:t>Master Faculty Viva Defense Strategy — Top 6 Examiner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284C7"/>
                </a:solidFill>
                <a:latin typeface="Calibri"/>
              </a:defRPr>
            </a:pPr>
            <a:r>
              <a:t>Are you claiming this replaces a licensed doctor?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NO. DocAssistIQ is strictly a Clinical Decision Support System (CDSS). Every screen and document bears our mandatory legal watermark: 'REFERENCE INFORMATION — CLINICIAN REVIEW REQUIRED'. Final clinical authority rests solely with the physician.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D9488"/>
                </a:solidFill>
                <a:latin typeface="Calibri"/>
              </a:defRPr>
            </a:pPr>
            <a:r>
              <a:t>How do you guarantee your AI won't hallucinate?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Through our Two-Stage Architecture. Stage 1 ranks candidate diseases deterministically via Python Bayesian priors and Jaccard math. The local LLM in Stage 2 is restricted to summarizing pre-ranked candidates and cannot introduce new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8B5CF6"/>
                </a:solidFill>
                <a:latin typeface="Calibri"/>
              </a:defRPr>
            </a:pPr>
            <a:r>
              <a:t>What if the hospital loses internet connection?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DocAssistIQ operates fully offline. The FastAPI backend, Faster-Whisper ASR, Ollama LLM, PostgreSQL, and our 1,500-condition catalog run on local hospital server hardware without external internet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How do you protect patient privacy and HIPAA compliance?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Zero Protected Health Information (PHI) leaves the hospital. Ingestion, transcription, diarization, and LLM reasoning run on local GPU/CPU hardware. External API queries transmit only sanitized medical terms, never patient names or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E11D48"/>
                </a:solidFill>
                <a:latin typeface="Calibri"/>
              </a:defRPr>
            </a:pPr>
            <a:r>
              <a:t>Why WebSockets instead of REST polling for consultations?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Consultations require bidirectional streaming (binary audio chunks upstream, diarized transcript tokens downstream). WebSockets eliminate repetitive HTTP header overhead, reducing latency and server bandwidth by &gt;80%.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31920"/>
            <a:ext cx="34747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2942"/>
                </a:solidFill>
                <a:latin typeface="Calibri"/>
              </a:defRPr>
            </a:pPr>
            <a:r>
              <a:t>What proves your system actually works?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Our empirical evaluation harness benchmark_clinical_cases.py tested 80 comprehensive clinical cases across 5 medical categories, achieving a 100% Top-3 diagnostic accuracy with an average latency under 30 milliseconds.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SUMMARY &amp; TAKEAWAYS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Conclusion, Clinical Impact &amp;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Production Docker Compose Orchestration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• Containerized 4-Tier Production Stack:</a:t>
            </a:r>
            <a:br/>
            <a:r>
              <a:t>  - frontend: Next.js 16 container running on port 3000.</a:t>
            </a:r>
            <a:br/>
            <a:r>
              <a:t>  - backend: FastAPI async Uvicorn workers on port 8000.</a:t>
            </a:r>
            <a:br/>
            <a:r>
              <a:t>  - postgres: PostgreSQL 16 + pgvector with persistent volume mounts on port 5432.</a:t>
            </a:r>
            <a:br/>
            <a:r>
              <a:t>  - redis: Redis 7 Alpine in-memory cache &amp; rate limiter on port 6379.</a:t>
            </a:r>
            <a:br/>
            <a:br/>
            <a:r>
              <a:t>• Automated One-Click Launchers:</a:t>
            </a:r>
            <a:br/>
            <a:r>
              <a:t>  - START_ALL_DOCKER.bat / START_ALL_LOCAL.bat for instant offline demonstration.</a:t>
            </a:r>
            <a:br/>
            <a:r>
              <a:t>  - Healthchecks ensure database readiness before API boot.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Final Takeaway &amp; Academic Contribution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• Proven Engineering Deliverables:</a:t>
            </a:r>
            <a:br/>
            <a:r>
              <a:t>  - 80/80 passed benchmark clinical cases (100% Top-3 diagnostic accuracy).</a:t>
            </a:r>
            <a:br/>
            <a:r>
              <a:t>  - Sub-30ms real-time typing prediction with &lt;1ms red-flag emergency triage.</a:t>
            </a:r>
            <a:br/>
            <a:r>
              <a:t>  - Full-duplex ambient voice consultation diarization with mandatory consent gates.</a:t>
            </a:r>
            <a:br/>
            <a:r>
              <a:t>  - 1,500+ open-domain conditions + India 28-State epidemiological surveillance radar.</a:t>
            </a:r>
            <a:br/>
            <a:r>
              <a:t>  - Immutable SHA-256 cryptographic provenance with public verification portal.</a:t>
            </a:r>
            <a:br/>
            <a:br/>
            <a:r>
              <a:t>• Core Philosophy:</a:t>
            </a:r>
            <a:br/>
            <a:r>
              <a:t>  'DocAssistIQ does not replace the physician—it amplifies clinical precision, eliminates administrative burnout, and protects human lives.'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