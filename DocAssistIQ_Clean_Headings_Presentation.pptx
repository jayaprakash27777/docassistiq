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DocAssistIQ</a:t>
            </a:r>
          </a:p>
          <a:p>
            <a:pPr>
              <a:spcBef>
                <a:spcPts val="1200"/>
              </a:spcBef>
              <a:defRPr sz="2400">
                <a:solidFill>
                  <a:srgbClr val="38BDF8"/>
                </a:solidFill>
                <a:latin typeface="Calibri"/>
              </a:defRPr>
            </a:pPr>
            <a:r>
              <a:t>System Architecture &amp; Clinical Decision Support Engineering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Neuro-Symbolic Architecture • Real-Time Ambient Voice • Deterministic Safety • Local GPU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AssistIQ_Architecture_PP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60175" cy="6446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942"/>
                </a:solidFill>
                <a:latin typeface="Calibri"/>
              </a:defRPr>
            </a:pPr>
            <a:r>
              <a:t>DocAssistIQ: Architectural Pillars &amp; Design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1. Ambient Voice Pipeline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Web Audio API (16kHz PCM)</a:t>
            </a:r>
            <a:br/>
            <a:r>
              <a:t>• Faster-Whisper Large-v3</a:t>
            </a:r>
            <a:br/>
            <a:r>
              <a:t>• PyAnnote 3.1 Diarization</a:t>
            </a:r>
            <a:br/>
            <a:r>
              <a:t>• Mandatory Patient Consent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645920"/>
            <a:ext cx="2468880" cy="4389120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2. Deterministic Reasoning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100+ Multi-Specialty Disease KB</a:t>
            </a:r>
            <a:br/>
            <a:r>
              <a:t>• Multi-Factor Jaccard + Cardinal Math</a:t>
            </a:r>
            <a:br/>
            <a:r>
              <a:t>• Incubation &amp; Travel Fit</a:t>
            </a:r>
            <a:br/>
            <a:r>
              <a:t>• &lt;85ms Sub-Second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645920"/>
            <a:ext cx="2468880" cy="4389120"/>
          </a:xfrm>
          <a:prstGeom prst="rect">
            <a:avLst/>
          </a:prstGeom>
          <a:solidFill>
            <a:srgbClr val="F8FAFC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91C1C"/>
                </a:solidFill>
                <a:latin typeface="Calibri"/>
              </a:defRPr>
            </a:pPr>
            <a:r>
              <a:t>3. Zero-Bypass Safety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Master Red Flags (RF-001 to 005)</a:t>
            </a:r>
            <a:br/>
            <a:r>
              <a:t>• 100% Sensitivity on Emergencies</a:t>
            </a:r>
            <a:br/>
            <a:r>
              <a:t>• Live NIH RxNav DDI Screening</a:t>
            </a:r>
            <a:br/>
            <a:r>
              <a:t>• Mandatory Clinician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60" y="1645920"/>
            <a:ext cx="2468880" cy="438912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4. Local Privacy &amp; Security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Constrained Llama-3.2-3B via Ollama</a:t>
            </a:r>
            <a:br/>
            <a:r>
              <a:t>• PostgreSQL 16 + pgvector HNSW</a:t>
            </a:r>
            <a:br/>
            <a:r>
              <a:t>• SHA-256 Chained Audit Trail</a:t>
            </a:r>
            <a:br/>
            <a:r>
              <a:t>• Zero Cloud Data Leakage (HIPAA)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